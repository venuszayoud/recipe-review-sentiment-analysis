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26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13835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9896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22818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25805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0289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88211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421672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82126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81125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44285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80963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B5E80-D89A-4D86-8FEB-C0ABA44E901B}" type="datetimeFigureOut">
              <a:rPr lang="ar-SY" smtClean="0"/>
              <a:t>22/01/1448</a:t>
            </a:fld>
            <a:endParaRPr lang="ar-S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13F51-15D5-4310-A741-FB3796317850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38338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ltk.org/book/" TargetMode="External"/><Relationship Id="rId3" Type="http://schemas.openxmlformats.org/officeDocument/2006/relationships/hyperlink" Target="https://archive.ics.uci.edu/dataset/911/recipe+reviews+and+user+feedback+dataset" TargetMode="External"/><Relationship Id="rId7" Type="http://schemas.openxmlformats.org/officeDocument/2006/relationships/hyperlink" Target="https://scikit-learn.org/stable/supervised_learning.html" TargetMode="External"/><Relationship Id="rId2" Type="http://schemas.openxmlformats.org/officeDocument/2006/relationships/hyperlink" Target="https://archive.ics.uci.edu/data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ltk.org/howto/sentiment.html" TargetMode="External"/><Relationship Id="rId5" Type="http://schemas.openxmlformats.org/officeDocument/2006/relationships/hyperlink" Target="https://microsoft.github.io/ML-For-Beginners/#/6-NLP/README" TargetMode="External"/><Relationship Id="rId4" Type="http://schemas.openxmlformats.org/officeDocument/2006/relationships/hyperlink" Target="https://www.coursera.org/learn/classification-vector-spaces-in-nlp?specialization=natural-language-processing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DB09518-29F4-455A-CF49-2DB3B96402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0"/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Recipe Review Sentiment Classification Using Classical NLP and Machine Learning</a:t>
            </a:r>
            <a:br>
              <a:rPr lang="en-US" sz="3600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</a:rPr>
            </a:br>
            <a:endParaRPr lang="ar-SY" sz="3600" dirty="0">
              <a:solidFill>
                <a:srgbClr val="0070C0"/>
              </a:solidFill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4866586-E4DE-F41F-0A94-685B88267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0"/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 End-to-End NLP &amp; Machine Learning Project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/>
            <a:endParaRPr lang="en-US" dirty="0"/>
          </a:p>
          <a:p>
            <a:pPr algn="l" rtl="0"/>
            <a:r>
              <a:rPr lang="en-US" dirty="0"/>
              <a:t>Venus Zayoud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44720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37CDF4C-6B0E-1157-267C-38409068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PROJECT OVERVIEW  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BCB040B-0F03-86C4-CD1B-57BF1A3CD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5165520"/>
          </a:xfrm>
        </p:spPr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🎯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BUSINESS PROBLEM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Understanding user sentiment in recipe reviews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improve recommendations &amp; user experience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⚙️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TECHNICAL OBJECTIVES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Build NLP preprocessing pipeline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Compare vectorization methods (Count vs TF-IDF)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Train ML models (LR, NB, Linear SVC)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Handle class imbalance with SMOTE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🔑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SKILLS DEMONSTRATED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Text preprocessing | Model selection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Imbalanced data handling | Multi-class sentiment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 rtl="0"/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43515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59F6734-F67E-CA1C-95C1-40F67A95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ABOUT THE DATASET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1606E5A-9504-4054-8375-D1C932FEC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📂 SOURCE: UCI Machine Learning Repository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 18,000+ recipe reviews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         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FEATURES:                                       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Review text        • Star ratings (1-5)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User reputation    • Engagement metrics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Recipe info        • Timestamps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 </a:t>
            </a:r>
            <a:r>
              <a:rPr lang="en-US" sz="18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KEY INSIGHTS:                                 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Avg review length: 204 characters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Reviews generally short and informal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22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3DF8CE5-AF05-18D4-6454-8AA7EA90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PREPARATION &amp; EXPLORATION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0AB5BE6-4318-8550-7E61-B01A189E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QUALITY ASSESSMENT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Missing values: Only 2 (0.01%) - filled with “ “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Duplicates: None found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Removed: 'Unnamed: 0' index column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FEATURE ENGINEERING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📅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Temporal: year, month,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day_of_week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📏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Review length: avg 204 chars, median 161 chars   </a:t>
            </a:r>
          </a:p>
          <a:p>
            <a:pPr marL="0" indent="0" algn="l" rtl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263226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0B62D00-DEB2-2C61-3900-F299ED615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 PREPARATION &amp; EXPLORATION</a:t>
            </a:r>
            <a:endParaRPr lang="ar-SY" dirty="0"/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97405A6B-5AD3-A528-F852-3ED1B7359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197" y="1825625"/>
            <a:ext cx="6555605" cy="4351338"/>
          </a:xfrm>
        </p:spPr>
      </p:pic>
    </p:spTree>
    <p:extLst>
      <p:ext uri="{BB962C8B-B14F-4D97-AF65-F5344CB8AC3E}">
        <p14:creationId xmlns:p14="http://schemas.microsoft.com/office/powerpoint/2010/main" val="240363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21497CD-052F-EC51-B177-B7321C82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 IMBALANCE ANALYSIS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8C0EB08-935C-78F5-D47C-07CD3CB7F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21727"/>
            <a:ext cx="8946541" cy="4195481"/>
          </a:xfrm>
        </p:spPr>
        <p:txBody>
          <a:bodyPr>
            <a:normAutofit fontScale="92500" lnSpcReduction="20000"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CLASS IMBALANCE ⚠️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⭐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5-star: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████████████████████████████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77.1%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⭐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4-star: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████░░░░░░░░░░░░░░░░░░░░░░░░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10.8%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⭐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3-star: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██░░░░░░░░░░░░░░░░░░░░░░░░░░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5.7%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⭐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2-star: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█░░░░░░░░░░░░░░░░░░░░░░░░░░░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3.4%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⭐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1-star: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█░░░░░░░░░░░░░░░░░░░░░░░░░░░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3.0%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 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IMPACT:      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Models biased toward positive reviews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❌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Minority classes poorly predicted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SMOTE needed for fair classification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88406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06A7947-D81A-D91D-86AB-D72840164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NLP PREPROCESSING PIPELINE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0BE62D4-B3CF-3E20-363E-C16E1973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📝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TEXT PROCESSING WORKFLOW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Raw Text → Tokenization → Lowercasing → Filter →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Stopword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Removal → Lemmatization → Processed Tokens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EXAMPLE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ORIGINAL:          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"I tweaked it a little, removed onions because of onion haters in my house"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↓ PROCESSED ↓     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['tweak', 'little', 'remove', 'onions', 'onion', 'haters', 'house', 'use', '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italian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', 'season']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⚙️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VECTORIZATION METHODS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CountVectorizer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Raw frequency counts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📈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TF-IDF: Term frequency-inverse document frequency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⚙️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Configuration: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min_df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=2,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max_features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=2000</a:t>
            </a:r>
          </a:p>
          <a:p>
            <a:pPr algn="l" rtl="0"/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2125312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4BB3FD6-4CAA-20AD-311E-1116C7DD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VADER SENTIMENT ANALYSIS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8FD42C7-A263-4CCF-7725-F9916591C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 VADER Sentiment Distribution:   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Positive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████████████████████████</a:t>
            </a: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 71.3%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Neutral  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████████░░░░░░░░░░░░░░░░</a:t>
            </a: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 19.8%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Negative 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████░░░░░░░░░░░░░░░░░░░░</a:t>
            </a: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  8.9%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📈 VADER Score vs Star Rating:      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Strong alignment with user ratings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Higher scores for 4-5 star reviews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Validates sentiment approach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justLow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61360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1F490A8-9749-257B-6AD9-C132DE34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VADER SENTIMENT ANALYSIS</a:t>
            </a:r>
            <a:endParaRPr lang="ar-SY" dirty="0"/>
          </a:p>
        </p:txBody>
      </p:sp>
      <p:pic>
        <p:nvPicPr>
          <p:cNvPr id="4" name="عنصر نائب للمحتوى 3">
            <a:extLst>
              <a:ext uri="{FF2B5EF4-FFF2-40B4-BE49-F238E27FC236}">
                <a16:creationId xmlns:a16="http://schemas.microsoft.com/office/drawing/2014/main" id="{44078651-76DD-40BD-A9FB-42ABD5421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393" y="2483258"/>
            <a:ext cx="7529213" cy="303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5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C25787C-F77C-93B8-FA88-A7DD59DD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6-CLASS CLASSIFICATION RESULTS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0D5B9F6-A830-B67E-8EBB-D551AB29B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/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TARGET: 1-5 Star Ratings (6 classes)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 PERFORMANCE: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                               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Segoe UI Emoji" panose="020B0502040204020203" pitchFamily="34" charset="0"/>
              <a:ea typeface="Aptos" panose="020B0004020202020204" pitchFamily="34" charset="0"/>
              <a:cs typeface="Segoe UI Emoji" panose="020B0502040204020203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Segoe UI Emoji" panose="020B0502040204020203" pitchFamily="34" charset="0"/>
              <a:ea typeface="Aptos" panose="020B0004020202020204" pitchFamily="34" charset="0"/>
              <a:cs typeface="Segoe UI Emoji" panose="020B0502040204020203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⚠️ KEY INSIGHT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Accuracy looks reasonable (~75%)     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BUT Macro F1 is very low (0.278-0.325)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Minority classes (1-4 stars) are poorly predicted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• Class imbalance severely impacts performance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ar-SY" dirty="0"/>
          </a:p>
        </p:txBody>
      </p:sp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38DB2E1E-26FB-5150-F753-16CFD2FBC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46726"/>
              </p:ext>
            </p:extLst>
          </p:nvPr>
        </p:nvGraphicFramePr>
        <p:xfrm>
          <a:off x="838200" y="2340079"/>
          <a:ext cx="7607709" cy="1177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2159">
                  <a:extLst>
                    <a:ext uri="{9D8B030D-6E8A-4147-A177-3AD203B41FA5}">
                      <a16:colId xmlns:a16="http://schemas.microsoft.com/office/drawing/2014/main" val="3631466355"/>
                    </a:ext>
                  </a:extLst>
                </a:gridCol>
                <a:gridCol w="1746668">
                  <a:extLst>
                    <a:ext uri="{9D8B030D-6E8A-4147-A177-3AD203B41FA5}">
                      <a16:colId xmlns:a16="http://schemas.microsoft.com/office/drawing/2014/main" val="366574571"/>
                    </a:ext>
                  </a:extLst>
                </a:gridCol>
                <a:gridCol w="1822610">
                  <a:extLst>
                    <a:ext uri="{9D8B030D-6E8A-4147-A177-3AD203B41FA5}">
                      <a16:colId xmlns:a16="http://schemas.microsoft.com/office/drawing/2014/main" val="2782084928"/>
                    </a:ext>
                  </a:extLst>
                </a:gridCol>
                <a:gridCol w="1916272">
                  <a:extLst>
                    <a:ext uri="{9D8B030D-6E8A-4147-A177-3AD203B41FA5}">
                      <a16:colId xmlns:a16="http://schemas.microsoft.com/office/drawing/2014/main" val="1792680461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156082"/>
                          </a:highlight>
                        </a:rPr>
                        <a:t>Model</a:t>
                      </a:r>
                      <a:endParaRPr lang="en-US" sz="1200" kern="100" dirty="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Accuracy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Macro F1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highlight>
                            <a:srgbClr val="156082"/>
                          </a:highlight>
                        </a:rPr>
                        <a:t>Wtd</a:t>
                      </a:r>
                      <a:r>
                        <a:rPr lang="en-US" sz="1200" kern="100" dirty="0">
                          <a:effectLst/>
                          <a:highlight>
                            <a:srgbClr val="156082"/>
                          </a:highlight>
                        </a:rPr>
                        <a:t> F1</a:t>
                      </a:r>
                      <a:endParaRPr lang="en-US" sz="1200" kern="100" dirty="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835462"/>
                  </a:ext>
                </a:extLst>
              </a:tr>
              <a:tr h="310608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Logistic + Count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75.4%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0.325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0.718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235156"/>
                  </a:ext>
                </a:extLst>
              </a:tr>
              <a:tr h="33048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Logistic + TF-IDF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77.5%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0.278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0.709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329894"/>
                  </a:ext>
                </a:extLst>
              </a:tr>
              <a:tr h="231705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Naive Bayes + Count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72.1%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0.325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0.707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063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922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7560BC0-DC34-93FC-DFD5-2F098CDC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SMOTE BALANCING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D7D8FF2-1052-1A36-A129-4C0BF24E1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268361"/>
            <a:ext cx="10515600" cy="5065918"/>
          </a:xfrm>
        </p:spPr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3-CLASS WITH SMOTE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🔄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LABEL MAPPING: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• 1-2 stars → Negative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3 stars → Neutral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4-5 stars → Positive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SMOTE IMPACT: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600" kern="100" dirty="0">
              <a:effectLst/>
              <a:latin typeface="Segoe UI Emoji" panose="020B0502040204020203" pitchFamily="34" charset="0"/>
              <a:ea typeface="Aptos" panose="020B0004020202020204" pitchFamily="34" charset="0"/>
              <a:cs typeface="Segoe UI Emoji" panose="020B0502040204020203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IMPROVEMENTS: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40-60% F1 increase for minority classes         </a:t>
            </a:r>
          </a:p>
          <a:p>
            <a:pPr marL="0" indent="0" algn="l" rtl="0">
              <a:buNone/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• Fairer model performance 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</a:p>
          <a:p>
            <a:pPr algn="l" rtl="0"/>
            <a:endParaRPr lang="ar-SY" dirty="0"/>
          </a:p>
        </p:txBody>
      </p:sp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1DADB08A-E71D-2066-B43F-30DE506E6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65566"/>
              </p:ext>
            </p:extLst>
          </p:nvPr>
        </p:nvGraphicFramePr>
        <p:xfrm>
          <a:off x="759542" y="3612687"/>
          <a:ext cx="5026025" cy="797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1325">
                  <a:extLst>
                    <a:ext uri="{9D8B030D-6E8A-4147-A177-3AD203B41FA5}">
                      <a16:colId xmlns:a16="http://schemas.microsoft.com/office/drawing/2014/main" val="374780575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416902669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740498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Class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Before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After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4483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Positive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14,145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14,145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795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Neutral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912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14,145   ✅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653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Negative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1,035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14,145   ✅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879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846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17DBAFF-4035-0BC7-2343-E1EF956D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b="1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FINAL RESULTS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E80C7F5-65DC-5739-9DCF-D079F1817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690"/>
            <a:ext cx="10515600" cy="4869273"/>
          </a:xfrm>
        </p:spPr>
        <p:txBody>
          <a:bodyPr/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FINAL MODEL COMPARISON</a:t>
            </a:r>
          </a:p>
          <a:p>
            <a:pPr marL="0" indent="0" algn="l" rtl="0">
              <a:buNone/>
            </a:pPr>
            <a:r>
              <a:rPr lang="en-US" sz="18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PERFORMANCE (with SMOTE): </a:t>
            </a:r>
          </a:p>
          <a:p>
            <a:pPr marL="0" indent="0" algn="l" rtl="0">
              <a:buNone/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CLASS-WISE F1 SCORES:     </a:t>
            </a:r>
          </a:p>
          <a:p>
            <a:pPr marL="0" indent="0" algn="l" rtl="0">
              <a:buNone/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n-US" sz="18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🏆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BEST MODEL: Linear SVC + SMOTE  </a:t>
            </a:r>
          </a:p>
          <a:p>
            <a:pPr marL="0" indent="0" algn="l" rtl="0">
              <a:buNone/>
            </a:pPr>
            <a:endParaRPr lang="ar-SY" dirty="0"/>
          </a:p>
        </p:txBody>
      </p:sp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D05B97C3-D02D-6DEC-6510-9C0138253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493506"/>
              </p:ext>
            </p:extLst>
          </p:nvPr>
        </p:nvGraphicFramePr>
        <p:xfrm>
          <a:off x="838200" y="2320760"/>
          <a:ext cx="5725160" cy="797816"/>
        </p:xfrm>
        <a:graphic>
          <a:graphicData uri="http://schemas.openxmlformats.org/drawingml/2006/table">
            <a:tbl>
              <a:tblPr firstRow="1" firstCol="1" bandRow="1">
                <a:effectLst/>
                <a:tableStyleId>{5C22544A-7EE6-4342-B048-85BDC9FD1C3A}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449269567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1930847106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770331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Model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Accuracy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Wtd F1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7421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Logistic Regression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75.8%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0.758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643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Naive Bayes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71.3%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0.714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2629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Linear SVC 🏆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75.4%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0.777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2003092"/>
                  </a:ext>
                </a:extLst>
              </a:tr>
            </a:tbl>
          </a:graphicData>
        </a:graphic>
      </p:graphicFrame>
      <p:graphicFrame>
        <p:nvGraphicFramePr>
          <p:cNvPr id="5" name="جدول 4">
            <a:extLst>
              <a:ext uri="{FF2B5EF4-FFF2-40B4-BE49-F238E27FC236}">
                <a16:creationId xmlns:a16="http://schemas.microsoft.com/office/drawing/2014/main" id="{6AF5C6B8-9659-7293-F8D6-18D4D3818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69970"/>
              </p:ext>
            </p:extLst>
          </p:nvPr>
        </p:nvGraphicFramePr>
        <p:xfrm>
          <a:off x="838200" y="3969914"/>
          <a:ext cx="3816350" cy="797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2812650418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9914884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Class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156082"/>
                          </a:highlight>
                        </a:rPr>
                        <a:t>F1 Score</a:t>
                      </a:r>
                      <a:endParaRPr lang="en-US" sz="1200" kern="100">
                        <a:effectLst/>
                        <a:highlight>
                          <a:srgbClr val="156082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7398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Negative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0.70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5181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Neutral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            0.37     ⚠️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5572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highlight>
                            <a:srgbClr val="C1E4F5"/>
                          </a:highlight>
                        </a:rPr>
                        <a:t>Positive</a:t>
                      </a:r>
                      <a:endParaRPr lang="en-US" sz="1200" kern="10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highlight>
                            <a:srgbClr val="C1E4F5"/>
                          </a:highlight>
                        </a:rPr>
                        <a:t>0.77</a:t>
                      </a:r>
                      <a:endParaRPr lang="en-US" sz="1200" kern="100" dirty="0">
                        <a:effectLst/>
                        <a:highlight>
                          <a:srgbClr val="C1E4F5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1596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316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D90C58-B628-05C3-6531-DEDDD91A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KEY INSIGHTS &amp; IMPACT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29E61B2-F3E2-4FD1-EF5F-03D0F9F7E5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💡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TOP FINDINGS: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1. CLASS IMBALANCE IS CRITICAL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SMOTE improved minority F1 by 40-60%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2. MODEL SELECTION MATTERS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Linear SVC achieved best performance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75.4% accuracy, 0.777 weighted F1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 NEUTRAL CLASS IS CHALLENGING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Lowest F1 (0.37) due to ambiguous reviews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</a:p>
          <a:p>
            <a:pPr marL="0" indent="0" algn="l" rtl="0">
              <a:buNone/>
            </a:pPr>
            <a:endParaRPr lang="ar-SY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6D4428D7-958A-B717-7511-1736066D49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🏢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BUSINESS APPLICATIONS: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Identify dissatisfied users for service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Promote highly-rated recipes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Detect negative sentiment trends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Improve recommendation systems </a:t>
            </a:r>
          </a:p>
          <a:p>
            <a:pPr marL="0" indent="0" algn="l" rtl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2679448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28ECB4B-F666-3557-5D42-C4F339523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CHALLENGES &amp; FUTURE WORK  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BB40266-21BA-5137-E65A-1F59FBE95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/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⚠️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CHALLENGES: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Severe class imbalance (77% 5-star)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Short, informal reviews (avg 204 chars)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Neutral class difficult to classify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🔮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FUTURE WORK: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Transformer models (BERT,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DistilBERT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Alternative balancing techniques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Recommendation systems using embeddings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</a:t>
            </a:r>
          </a:p>
          <a:p>
            <a:pPr marL="0" indent="0" algn="l" rtl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Aspect-based sentiment analysis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025548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6E33386-BD1A-49DA-2C6A-2B919E736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CONCLUSION </a:t>
            </a:r>
            <a:r>
              <a:rPr lang="en-US" sz="36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🎯</a:t>
            </a:r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9047A1A-BF01-E504-A284-B9D7E1B52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>
            <a:normAutofit fontScale="92500" lnSpcReduction="20000"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✅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ACHIEVEMENTS: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Built complete end-to-end NLP pipeline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Processed 18,000+ recipe reviews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Compared multiple ML models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Addressed class imbalance with SMOTE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Achieved 75%+ accuracy &amp; 0.777 weighted F1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📊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BEST MODEL: Linear SVC + SMOTE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💡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KEY TAKEAWAY: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Classical ML remains effective when handling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 imbalance properly. SMOTE significantly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improves minority class performance.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🔮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NEXT STEPS: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Explore deep learning &amp; transformer models for further improvement.  </a:t>
            </a:r>
          </a:p>
          <a:p>
            <a:pPr marL="0" indent="0" algn="l" rtl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723869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50D1C8C-4A2E-1687-7566-AA711501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REFERENCES</a:t>
            </a:r>
            <a:br>
              <a:rPr lang="en-US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ar-SY" sz="3600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85CE8F6-CB40-B260-B373-68C414DE1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>
            <a:normAutofit/>
          </a:bodyPr>
          <a:lstStyle/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📚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DATASET:  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UCI Machine Learning Repository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Recipe Reviews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📖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COURSES:  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NLP with Classification (Coursera)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ML for Beginners (Microsoft)       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📄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DOCUMENTATION: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•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NLTK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•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7"/>
              </a:rPr>
              <a:t>Scikit-Learn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📕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BOOKS:                                         </a:t>
            </a: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8"/>
              </a:rPr>
              <a:t>NLP with Python (Bird, Klein &amp;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8"/>
              </a:rPr>
              <a:t>Loper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8"/>
              </a:rPr>
              <a:t>)           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 algn="l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👨‍🏫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MENTORSHIP:                                   </a:t>
            </a:r>
          </a:p>
          <a:p>
            <a:pPr marL="0" indent="0" algn="l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Dr. Raji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Ghawi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ReDI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Connect 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33546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699E293-7DC6-B906-3B41-E16DF458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5553"/>
            <a:ext cx="10515600" cy="1326894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  <a:endParaRPr lang="ar-SY" sz="7200" dirty="0"/>
          </a:p>
        </p:txBody>
      </p:sp>
    </p:spTree>
    <p:extLst>
      <p:ext uri="{BB962C8B-B14F-4D97-AF65-F5344CB8AC3E}">
        <p14:creationId xmlns:p14="http://schemas.microsoft.com/office/powerpoint/2010/main" val="92736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نسق 2022">
  <a:themeElements>
    <a:clrScheme name="Office 2013 - نسق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نسق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نسق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935</TotalTime>
  <Words>895</Words>
  <Application>Microsoft Office PowerPoint</Application>
  <PresentationFormat>شاشة عريضة</PresentationFormat>
  <Paragraphs>210</Paragraphs>
  <Slides>17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Segoe UI Emoji</vt:lpstr>
      <vt:lpstr>Office 2013 - نسق 2022</vt:lpstr>
      <vt:lpstr>Recipe Review Sentiment Classification Using Classical NLP and Machine Learning </vt:lpstr>
      <vt:lpstr>PROJECT OVERVIEW  </vt:lpstr>
      <vt:lpstr>ABOUT THE DATASET </vt:lpstr>
      <vt:lpstr>DATA PREPARATION &amp; EXPLORATION </vt:lpstr>
      <vt:lpstr>DATA PREPARATION &amp; EXPLORATION</vt:lpstr>
      <vt:lpstr>CLASS IMBALANCE ANALYSIS </vt:lpstr>
      <vt:lpstr>NLP PREPROCESSING PIPELINE </vt:lpstr>
      <vt:lpstr>VADER SENTIMENT ANALYSIS </vt:lpstr>
      <vt:lpstr>VADER SENTIMENT ANALYSIS</vt:lpstr>
      <vt:lpstr>6-CLASS CLASSIFICATION RESULTS </vt:lpstr>
      <vt:lpstr>SMOTE BALANCING </vt:lpstr>
      <vt:lpstr>FINAL RESULTS </vt:lpstr>
      <vt:lpstr>KEY INSIGHTS &amp; IMPACT </vt:lpstr>
      <vt:lpstr>CHALLENGES &amp; FUTURE WORK   </vt:lpstr>
      <vt:lpstr>CONCLUSION 🎯  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Venus Zayoud</dc:creator>
  <cp:lastModifiedBy>Venus Zayoud</cp:lastModifiedBy>
  <cp:revision>3</cp:revision>
  <dcterms:created xsi:type="dcterms:W3CDTF">2026-07-06T18:14:53Z</dcterms:created>
  <dcterms:modified xsi:type="dcterms:W3CDTF">2026-07-07T09:51:03Z</dcterms:modified>
</cp:coreProperties>
</file>